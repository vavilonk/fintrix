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8F4FF"/>
              </a:gs>
              <a:gs pos="100000">
                <a:srgbClr val="7EBCFF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p_icon_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12000"/>
            <a:ext cx="3240000" cy="32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8000" y="1584000"/>
            <a:ext cx="720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8154B"/>
                </a:solidFill>
                <a:latin typeface="Segoe UI"/>
              </a:rPr>
              <a:t>Финансовый питомец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8000" y="2520000"/>
            <a:ext cx="684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8154B"/>
                </a:solidFill>
                <a:latin typeface="Segoe UI"/>
              </a:rPr>
              <a:t>Игра для детей 7–11 лет: лисёнок Рыжик учит планировать бюджет, копить и тратить с умом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000" y="3816000"/>
            <a:ext cx="6840000" cy="93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797"/>
                </a:solidFill>
                <a:latin typeface="Segoe UI"/>
              </a:rPr>
              <a:t>Android · Flutter · работает офлайн</a:t>
            </a:r>
          </a:p>
          <a:p>
            <a:pPr algn="l"/>
            <a:r>
              <a:rPr sz="1600" b="0">
                <a:solidFill>
                  <a:srgbClr val="596797"/>
                </a:solidFill>
                <a:latin typeface="Segoe UI"/>
              </a:rPr>
              <a:t>Команда: &lt;вписать состав команды&gt;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Проблема и целевая 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080000"/>
            <a:ext cx="61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780F7"/>
                </a:solidFill>
              </a:rPr>
              <a:t>• </a:t>
            </a:r>
            <a:r>
              <a:rPr b="1" sz="1800">
                <a:solidFill>
                  <a:srgbClr val="08154B"/>
                </a:solidFill>
                <a:latin typeface="Segoe UI"/>
              </a:rPr>
              <a:t>Дети 7–11 лет </a:t>
            </a:r>
            <a:r>
              <a:rPr sz="1800">
                <a:solidFill>
                  <a:srgbClr val="08154B"/>
                </a:solidFill>
                <a:latin typeface="Segoe UI"/>
              </a:rPr>
              <a:t>рано сталкиваются с деньгами: карманные деньги, покупки в школе, игры и подписки.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780F7"/>
                </a:solidFill>
              </a:rPr>
              <a:t>• </a:t>
            </a:r>
            <a:r>
              <a:rPr b="1" sz="1800">
                <a:solidFill>
                  <a:srgbClr val="08154B"/>
                </a:solidFill>
                <a:latin typeface="Segoe UI"/>
              </a:rPr>
              <a:t>Навыки </a:t>
            </a:r>
            <a:r>
              <a:rPr sz="1800">
                <a:solidFill>
                  <a:srgbClr val="08154B"/>
                </a:solidFill>
                <a:latin typeface="Segoe UI"/>
              </a:rPr>
              <a:t>планирования, накопления и безопасного обращения с деньгами формируются позже, а ошибки с реальными деньгами дорого стоят.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780F7"/>
                </a:solidFill>
              </a:rPr>
              <a:t>• </a:t>
            </a:r>
            <a:r>
              <a:rPr b="1" sz="1800">
                <a:solidFill>
                  <a:srgbClr val="08154B"/>
                </a:solidFill>
                <a:latin typeface="Segoe UI"/>
              </a:rPr>
              <a:t>Объяснения «на словах» </a:t>
            </a:r>
            <a:r>
              <a:rPr sz="1800">
                <a:solidFill>
                  <a:srgbClr val="08154B"/>
                </a:solidFill>
                <a:latin typeface="Segoe UI"/>
              </a:rPr>
              <a:t>скучны и быстро забываются.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780F7"/>
                </a:solidFill>
              </a:rPr>
              <a:t>• </a:t>
            </a:r>
            <a:r>
              <a:rPr b="1" sz="1800">
                <a:solidFill>
                  <a:srgbClr val="08154B"/>
                </a:solidFill>
                <a:latin typeface="Segoe UI"/>
              </a:rPr>
              <a:t>Нужна </a:t>
            </a:r>
            <a:r>
              <a:rPr sz="1800">
                <a:solidFill>
                  <a:srgbClr val="08154B"/>
                </a:solidFill>
                <a:latin typeface="Segoe UI"/>
              </a:rPr>
              <a:t>безопасная среда, где решения имеют понятные последствия, но ошибка ничего не стоит.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20000" y="1080000"/>
            <a:ext cx="4608000" cy="208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46000" y="1170000"/>
            <a:ext cx="435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780F7"/>
                </a:solidFill>
                <a:latin typeface="Segoe UI"/>
              </a:rPr>
              <a:t>Ребёнок 7–11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6000" y="1565999"/>
            <a:ext cx="4356000" cy="15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8154B"/>
                </a:solidFill>
                <a:latin typeface="Segoe UI"/>
              </a:rPr>
              <a:t>Играет сам: заботится о Рыжике, выполняет задания, решает, как потратить монеты.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20000" y="3348000"/>
            <a:ext cx="4608000" cy="208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6000" y="3438000"/>
            <a:ext cx="435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8649F4"/>
                </a:solidFill>
                <a:latin typeface="Segoe UI"/>
              </a:rPr>
              <a:t>Взрослый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6000" y="3834000"/>
            <a:ext cx="4356000" cy="15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8154B"/>
                </a:solidFill>
                <a:latin typeface="Segoe UI"/>
              </a:rPr>
              <a:t>Настраивает профиль, видит пройденные темы и прогресс, начисляет бонусы, может удалить данные.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Образовательные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08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96797"/>
                </a:solidFill>
                <a:latin typeface="Segoe UI"/>
              </a:rPr>
              <a:t>Выбраны из Единой рамки компетенций по финансовой грамотности для младших школьников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000" y="1512000"/>
            <a:ext cx="3636000" cy="208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000" y="1602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780F7"/>
                </a:solidFill>
                <a:latin typeface="Segoe UI"/>
              </a:rPr>
              <a:t>Планирование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000" y="1998000"/>
            <a:ext cx="3384000" cy="15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8154B"/>
                </a:solidFill>
                <a:latin typeface="Segoe UI"/>
              </a:rPr>
              <a:t>Распределяет доход по направлениям до трат и сравнивает план с фактом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4000" y="1512000"/>
            <a:ext cx="3636000" cy="208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0000" y="1602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8649F4"/>
                </a:solidFill>
                <a:latin typeface="Segoe UI"/>
              </a:rPr>
              <a:t>Потребности и желания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0000" y="1998000"/>
            <a:ext cx="3384000" cy="15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8154B"/>
                </a:solidFill>
                <a:latin typeface="Segoe UI"/>
              </a:rPr>
              <a:t>Отличает обязательные расходы от желаемых и выбирает порядок покупок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000" y="1512000"/>
            <a:ext cx="3636000" cy="208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6000" y="1602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5C969"/>
                </a:solidFill>
                <a:latin typeface="Segoe UI"/>
              </a:rPr>
              <a:t>Сбережения и цель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6000" y="1998000"/>
            <a:ext cx="3384000" cy="15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8154B"/>
                </a:solidFill>
                <a:latin typeface="Segoe UI"/>
              </a:rPr>
              <a:t>Регулярно откладывает, считает срок достижения цели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000" y="3780000"/>
            <a:ext cx="3636000" cy="208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000" y="3870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780F7"/>
                </a:solidFill>
                <a:latin typeface="Segoe UI"/>
              </a:rPr>
              <a:t>Платежи и покупки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000" y="4266000"/>
            <a:ext cx="3384000" cy="15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8154B"/>
                </a:solidFill>
                <a:latin typeface="Segoe UI"/>
              </a:rPr>
              <a:t>Считает деньги и сдачу, сравнивает цены, проверяет чек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4000" y="3780000"/>
            <a:ext cx="3636000" cy="208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0000" y="3870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8649F4"/>
                </a:solidFill>
                <a:latin typeface="Segoe UI"/>
              </a:rPr>
              <a:t>Безопасность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0000" y="4266000"/>
            <a:ext cx="3384000" cy="15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8154B"/>
                </a:solidFill>
                <a:latin typeface="Segoe UI"/>
              </a:rPr>
              <a:t>Не сообщает коды из СМС, при сомнении зовёт взрослого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0000" y="3780000"/>
            <a:ext cx="3636000" cy="208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6000" y="3870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5C969"/>
                </a:solidFill>
                <a:latin typeface="Segoe UI"/>
              </a:rPr>
              <a:t>Непредвиденное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000" y="4266000"/>
            <a:ext cx="3384000" cy="15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8154B"/>
                </a:solidFill>
                <a:latin typeface="Segoe UI"/>
              </a:rPr>
              <a:t>Понимает, зачем держать запас в копилке на неожиданные траты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Идея: почему питомец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080000"/>
            <a:ext cx="68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Забота </a:t>
            </a:r>
            <a:r>
              <a:rPr sz="1700">
                <a:solidFill>
                  <a:srgbClr val="08154B"/>
                </a:solidFill>
                <a:latin typeface="Segoe UI"/>
              </a:rPr>
              <a:t>— понятная детям мотивация: Рыжику нужны еда и уход (важные траты), а игрушки радуют (приятные).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Последствия видны сразу: </a:t>
            </a:r>
            <a:r>
              <a:rPr sz="1700">
                <a:solidFill>
                  <a:srgbClr val="08154B"/>
                </a:solidFill>
                <a:latin typeface="Segoe UI"/>
              </a:rPr>
              <a:t>сытость, настроение, забота и реплика Рыжика объясняют, что случилось и почему.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Рост в 3 стадии </a:t>
            </a:r>
            <a:r>
              <a:rPr sz="1700">
                <a:solidFill>
                  <a:srgbClr val="08154B"/>
                </a:solidFill>
                <a:latin typeface="Segoe UI"/>
              </a:rPr>
              <a:t>зависит от решений за несколько дней: план, траты по плану, регулярные накопления — это учит думать наперёд.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Копилка и цель </a:t>
            </a:r>
            <a:r>
              <a:rPr sz="1700">
                <a:solidFill>
                  <a:srgbClr val="08154B"/>
                </a:solidFill>
                <a:latin typeface="Segoe UI"/>
              </a:rPr>
              <a:t>превращают «отложить» в осязаемую мечту: велосипед, самокат, конструктор.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Жизненные ситуации </a:t>
            </a:r>
            <a:r>
              <a:rPr sz="1700">
                <a:solidFill>
                  <a:srgbClr val="08154B"/>
                </a:solidFill>
                <a:latin typeface="Segoe UI"/>
              </a:rPr>
              <a:t>— звонок мошенника и визит к ветеринару — тренируют безопасность и «подушку».</a:t>
            </a:r>
          </a:p>
        </p:txBody>
      </p:sp>
      <p:pic>
        <p:nvPicPr>
          <p:cNvPr id="7" name="Picture 6" descr="02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000" y="936000"/>
            <a:ext cx="2365200" cy="525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Пользовательский путь и игровая 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152000"/>
            <a:ext cx="1548000" cy="792000"/>
          </a:xfrm>
          <a:prstGeom prst="roundRect">
            <a:avLst>
              <a:gd name="adj" fmla="val 30000"/>
            </a:avLst>
          </a:prstGeom>
          <a:solidFill>
            <a:srgbClr val="278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Знакомство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и профиль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33999" y="1422000"/>
            <a:ext cx="306000" cy="251999"/>
          </a:xfrm>
          <a:prstGeom prst="rightArrow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76000" y="1152000"/>
            <a:ext cx="1548000" cy="792000"/>
          </a:xfrm>
          <a:prstGeom prst="roundRect">
            <a:avLst>
              <a:gd name="adj" fmla="val 30000"/>
            </a:avLst>
          </a:prstGeom>
          <a:solidFill>
            <a:srgbClr val="278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Задания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→ монеты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41999" y="1422000"/>
            <a:ext cx="306000" cy="251999"/>
          </a:xfrm>
          <a:prstGeom prst="rightArrow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84000" y="1152000"/>
            <a:ext cx="1548000" cy="792000"/>
          </a:xfrm>
          <a:prstGeom prst="roundRect">
            <a:avLst>
              <a:gd name="adj" fmla="val 30000"/>
            </a:avLst>
          </a:prstGeom>
          <a:solidFill>
            <a:srgbClr val="278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План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бюджета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0000" y="1422000"/>
            <a:ext cx="306000" cy="251999"/>
          </a:xfrm>
          <a:prstGeom prst="rightArrow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2000" y="1152000"/>
            <a:ext cx="1548000" cy="792000"/>
          </a:xfrm>
          <a:prstGeom prst="roundRect">
            <a:avLst>
              <a:gd name="adj" fmla="val 30000"/>
            </a:avLst>
          </a:prstGeom>
          <a:solidFill>
            <a:srgbClr val="278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Покупки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и копилка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57999" y="1422000"/>
            <a:ext cx="306000" cy="251999"/>
          </a:xfrm>
          <a:prstGeom prst="rightArrow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0000" y="1152000"/>
            <a:ext cx="1548000" cy="792000"/>
          </a:xfrm>
          <a:prstGeom prst="roundRect">
            <a:avLst>
              <a:gd name="adj" fmla="val 30000"/>
            </a:avLst>
          </a:prstGeom>
          <a:solidFill>
            <a:srgbClr val="278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Итоги дня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66000" y="1422000"/>
            <a:ext cx="306000" cy="251999"/>
          </a:xfrm>
          <a:prstGeom prst="rightArrow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08000" y="1152000"/>
            <a:ext cx="1548000" cy="792000"/>
          </a:xfrm>
          <a:prstGeom prst="roundRect">
            <a:avLst>
              <a:gd name="adj" fmla="val 30000"/>
            </a:avLst>
          </a:prstGeom>
          <a:solidFill>
            <a:srgbClr val="278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Рост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Рыжика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000" y="2304000"/>
            <a:ext cx="3636000" cy="352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000" y="2394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5C969"/>
                </a:solidFill>
                <a:latin typeface="Segoe UI"/>
              </a:rPr>
              <a:t>Доход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" y="2790000"/>
            <a:ext cx="3384000" cy="29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8154B"/>
                </a:solidFill>
                <a:latin typeface="Segoe UI"/>
              </a:rPr>
              <a:t>• Задания: 15–20 монет, объяснение при любом ответе
• «Раздели награду» между кошельком и копилкой
• Бонус от взрослого
• Каждое начисление — в «Истории монет» с источником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4000" y="2304000"/>
            <a:ext cx="3636000" cy="352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0000" y="2394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780F7"/>
                </a:solidFill>
                <a:latin typeface="Segoe UI"/>
              </a:rPr>
              <a:t>Расходы и накопления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0000" y="2790000"/>
            <a:ext cx="3384000" cy="29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8154B"/>
                </a:solidFill>
                <a:latin typeface="Segoe UI"/>
              </a:rPr>
              <a:t>• План: на важное / на приятное / в копилку
• Важное: еда, уход, ветеринар
• Приятное: вкусняшка, игрушки в комнату
• Минус невозможен: «не хватает N монет» и варианты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0000" y="2304000"/>
            <a:ext cx="3636000" cy="3528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6000" y="2394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A51F"/>
                </a:solidFill>
                <a:latin typeface="Segoe UI"/>
              </a:rPr>
              <a:t>Питомец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6000" y="2790000"/>
            <a:ext cx="3384000" cy="29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8154B"/>
                </a:solidFill>
                <a:latin typeface="Segoe UI"/>
              </a:rPr>
              <a:t>• Сытость, забота, настроение 0–100, падают со временем
• Голоден при сытости &lt; 30
• Очки роста за день (до 30): план, траты по плану, копилка, цель, задания
• Стадии: &lt; 40, 40–89, ≥ 90 очков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Обязательные функции и границы прототипа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080000"/>
            <a:ext cx="63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780F7"/>
                </a:solidFill>
              </a:rPr>
              <a:t>• </a:t>
            </a:r>
            <a:r>
              <a:rPr b="1" sz="1600">
                <a:solidFill>
                  <a:srgbClr val="08154B"/>
                </a:solidFill>
                <a:latin typeface="Segoe UI"/>
              </a:rPr>
              <a:t>Реализованы все требования 2.5.1–2.5.14 </a:t>
            </a:r>
            <a:r>
              <a:rPr sz="1600">
                <a:solidFill>
                  <a:srgbClr val="08154B"/>
                </a:solidFill>
                <a:latin typeface="Segoe UI"/>
              </a:rPr>
              <a:t>и минимум контента 2.6.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780F7"/>
                </a:solidFill>
              </a:rPr>
              <a:t>• </a:t>
            </a:r>
            <a:r>
              <a:rPr b="1" sz="1600">
                <a:solidFill>
                  <a:srgbClr val="08154B"/>
                </a:solidFill>
                <a:latin typeface="Segoe UI"/>
              </a:rPr>
              <a:t>Питомец: </a:t>
            </a:r>
            <a:r>
              <a:rPr sz="1600">
                <a:solidFill>
                  <a:srgbClr val="08154B"/>
                </a:solidFill>
                <a:latin typeface="Segoe UI"/>
              </a:rPr>
              <a:t>4 цвета худи × аксессуары × 3 стадии — больше 9 вариантов.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780F7"/>
                </a:solidFill>
              </a:rPr>
              <a:t>• </a:t>
            </a:r>
            <a:r>
              <a:rPr b="1" sz="1600">
                <a:solidFill>
                  <a:srgbClr val="08154B"/>
                </a:solidFill>
                <a:latin typeface="Segoe UI"/>
              </a:rPr>
              <a:t>Контент: </a:t>
            </a:r>
            <a:r>
              <a:rPr sz="1600">
                <a:solidFill>
                  <a:srgbClr val="08154B"/>
                </a:solidFill>
                <a:latin typeface="Segoe UI"/>
              </a:rPr>
              <a:t>26 шаблонов заданий, миссия из 12 заданий, 10 локаций на карте Москвы.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780F7"/>
                </a:solidFill>
              </a:rPr>
              <a:t>• </a:t>
            </a:r>
            <a:r>
              <a:rPr b="1" sz="1600">
                <a:solidFill>
                  <a:srgbClr val="08154B"/>
                </a:solidFill>
                <a:latin typeface="Segoe UI"/>
              </a:rPr>
              <a:t>Покупки: </a:t>
            </a:r>
            <a:r>
              <a:rPr sz="1600">
                <a:solidFill>
                  <a:srgbClr val="08154B"/>
                </a:solidFill>
                <a:latin typeface="Segoe UI"/>
              </a:rPr>
              <a:t>8 позиций (еда, уход, игрушки), 3 цели накопления.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780F7"/>
                </a:solidFill>
              </a:rPr>
              <a:t>• </a:t>
            </a:r>
            <a:r>
              <a:rPr b="1" sz="1600">
                <a:solidFill>
                  <a:srgbClr val="08154B"/>
                </a:solidFill>
                <a:latin typeface="Segoe UI"/>
              </a:rPr>
              <a:t>Демо-режим: </a:t>
            </a:r>
            <a:r>
              <a:rPr sz="1600">
                <a:solidFill>
                  <a:srgbClr val="08154B"/>
                </a:solidFill>
                <a:latin typeface="Segoe UI"/>
              </a:rPr>
              <a:t>5 дней без ожидания, панель для экспертов, сброс.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780F7"/>
                </a:solidFill>
              </a:rPr>
              <a:t>• </a:t>
            </a:r>
            <a:r>
              <a:rPr b="1" sz="1600">
                <a:solidFill>
                  <a:srgbClr val="08154B"/>
                </a:solidFill>
                <a:latin typeface="Segoe UI"/>
              </a:rPr>
              <a:t>Раздел взрослого: </a:t>
            </a:r>
            <a:r>
              <a:rPr sz="1600">
                <a:solidFill>
                  <a:srgbClr val="08154B"/>
                </a:solidFill>
                <a:latin typeface="Segoe UI"/>
              </a:rPr>
              <a:t>PIN или биометрия, прогресс, начисления, удаление данных.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56000" y="1080000"/>
            <a:ext cx="4608000" cy="324000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>
            <a:solidFill>
              <a:srgbClr val="FFF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82000" y="1170000"/>
            <a:ext cx="435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A51F"/>
                </a:solidFill>
                <a:latin typeface="Segoe UI"/>
              </a:rPr>
              <a:t>Сознательно не делаем (ТЗ 2.7)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2000" y="1565999"/>
            <a:ext cx="4356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8154B"/>
                </a:solidFill>
                <a:latin typeface="Segoe UI"/>
              </a:rPr>
              <a:t>• Реальные деньги, карты, СБП
• Реклама, подписки, покупки
• Чаты, рейтинги, соцсеть
• Сервер, облако, ИИ — не нужны: всё офлайн
• Удалённый родительский контроль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Ключевые UX/UI-решения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080000"/>
            <a:ext cx="4572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780F7"/>
                </a:solidFill>
              </a:rPr>
              <a:t>• </a:t>
            </a:r>
            <a:r>
              <a:rPr b="1" sz="1500">
                <a:solidFill>
                  <a:srgbClr val="08154B"/>
                </a:solidFill>
                <a:latin typeface="Segoe UI"/>
              </a:rPr>
              <a:t>Всё главное на одном экране </a:t>
            </a:r>
            <a:r>
              <a:rPr sz="1500">
                <a:solidFill>
                  <a:srgbClr val="08154B"/>
                </a:solidFill>
                <a:latin typeface="Segoe UI"/>
              </a:rPr>
              <a:t>и 5 вкладок снизу.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780F7"/>
                </a:solidFill>
              </a:rPr>
              <a:t>• </a:t>
            </a:r>
            <a:r>
              <a:rPr b="1" sz="1500">
                <a:solidFill>
                  <a:srgbClr val="08154B"/>
                </a:solidFill>
                <a:latin typeface="Segoe UI"/>
              </a:rPr>
              <a:t>Рыжик объясняет </a:t>
            </a:r>
            <a:r>
              <a:rPr sz="1500">
                <a:solidFill>
                  <a:srgbClr val="08154B"/>
                </a:solidFill>
                <a:latin typeface="Segoe UI"/>
              </a:rPr>
              <a:t>состояние и последствия короткими фразами.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780F7"/>
                </a:solidFill>
              </a:rPr>
              <a:t>• </a:t>
            </a:r>
            <a:r>
              <a:rPr b="1" sz="1500">
                <a:solidFill>
                  <a:srgbClr val="08154B"/>
                </a:solidFill>
                <a:latin typeface="Segoe UI"/>
              </a:rPr>
              <a:t>Категории </a:t>
            </a:r>
            <a:r>
              <a:rPr sz="1500">
                <a:solidFill>
                  <a:srgbClr val="08154B"/>
                </a:solidFill>
                <a:latin typeface="Segoe UI"/>
              </a:rPr>
              <a:t>подписаны текстом и значком, не только цветом.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780F7"/>
                </a:solidFill>
              </a:rPr>
              <a:t>• </a:t>
            </a:r>
            <a:r>
              <a:rPr b="1" sz="1500">
                <a:solidFill>
                  <a:srgbClr val="08154B"/>
                </a:solidFill>
                <a:latin typeface="Segoe UI"/>
              </a:rPr>
              <a:t>Нет тупиков: </a:t>
            </a:r>
            <a:r>
              <a:rPr sz="1500">
                <a:solidFill>
                  <a:srgbClr val="08154B"/>
                </a:solidFill>
                <a:latin typeface="Segoe UI"/>
              </a:rPr>
              <a:t>при нехватке монет — следующий шаг.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780F7"/>
                </a:solidFill>
              </a:rPr>
              <a:t>• </a:t>
            </a:r>
            <a:r>
              <a:rPr b="1" sz="1500">
                <a:solidFill>
                  <a:srgbClr val="08154B"/>
                </a:solidFill>
                <a:latin typeface="Segoe UI"/>
              </a:rPr>
              <a:t>Доступность: </a:t>
            </a:r>
            <a:r>
              <a:rPr sz="1500">
                <a:solidFill>
                  <a:srgbClr val="08154B"/>
                </a:solidFill>
                <a:latin typeface="Segoe UI"/>
              </a:rPr>
              <a:t>кнопки от 48 dp, текст от 16 sp, крупный шрифт системы, подписи для диктора, отключение звука и анимаций.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780F7"/>
                </a:solidFill>
              </a:rPr>
              <a:t>• </a:t>
            </a:r>
            <a:r>
              <a:rPr b="1" sz="1500">
                <a:solidFill>
                  <a:srgbClr val="08154B"/>
                </a:solidFill>
                <a:latin typeface="Segoe UI"/>
              </a:rPr>
              <a:t>Без стыда и страха: </a:t>
            </a:r>
            <a:r>
              <a:rPr sz="1500">
                <a:solidFill>
                  <a:srgbClr val="08154B"/>
                </a:solidFill>
                <a:latin typeface="Segoe UI"/>
              </a:rPr>
              <a:t>ошибка = объяснение и способ исправить.</a:t>
            </a:r>
          </a:p>
        </p:txBody>
      </p:sp>
      <p:pic>
        <p:nvPicPr>
          <p:cNvPr id="7" name="Picture 6" descr="01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000" y="1080000"/>
            <a:ext cx="2073600" cy="4608000"/>
          </a:xfrm>
          <a:prstGeom prst="rect">
            <a:avLst/>
          </a:prstGeom>
        </p:spPr>
      </p:pic>
      <p:pic>
        <p:nvPicPr>
          <p:cNvPr id="8" name="Picture 7" descr="04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600" y="1080000"/>
            <a:ext cx="2073600" cy="4608000"/>
          </a:xfrm>
          <a:prstGeom prst="rect">
            <a:avLst/>
          </a:prstGeom>
        </p:spPr>
      </p:pic>
      <p:pic>
        <p:nvPicPr>
          <p:cNvPr id="9" name="Picture 8" descr="03_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5200" y="1080000"/>
            <a:ext cx="2073600" cy="460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Архитектура, стек и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080000"/>
            <a:ext cx="2340000" cy="1007999"/>
          </a:xfrm>
          <a:prstGeom prst="roundRect">
            <a:avLst>
              <a:gd name="adj" fmla="val 30000"/>
            </a:avLst>
          </a:prstGeom>
          <a:solidFill>
            <a:srgbClr val="278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Интерфейс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8000" y="1152000"/>
            <a:ext cx="45000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8154B"/>
                </a:solidFill>
                <a:latin typeface="Segoe UI"/>
              </a:rPr>
              <a:t>Экраны модулей: главная, задания, бюджет, цели, магазин, профиль, взрослый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" y="2304000"/>
            <a:ext cx="2340000" cy="1007999"/>
          </a:xfrm>
          <a:prstGeom prst="roundRect">
            <a:avLst>
              <a:gd name="adj" fmla="val 30000"/>
            </a:avLst>
          </a:prstGeom>
          <a:solidFill>
            <a:srgbClr val="864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Состояние и экономика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8000" y="2376000"/>
            <a:ext cx="45000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8154B"/>
                </a:solidFill>
                <a:latin typeface="Segoe UI"/>
              </a:rPr>
              <a:t>AppController: баланс, план, покупки, копилка, периоды, рост, события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3528000"/>
            <a:ext cx="2340000" cy="1007999"/>
          </a:xfrm>
          <a:prstGeom prst="roundRect">
            <a:avLst>
              <a:gd name="adj" fmla="val 30000"/>
            </a:avLst>
          </a:prstGeom>
          <a:solidFill>
            <a:srgbClr val="55C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Учебный контент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8000" y="3600000"/>
            <a:ext cx="45000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8154B"/>
                </a:solidFill>
                <a:latin typeface="Segoe UI"/>
              </a:rPr>
              <a:t>Шаблоны заданий, генератор миссий, локации, демо-дни, события, магазин — отдельно от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000" y="4752000"/>
            <a:ext cx="2340000" cy="1007999"/>
          </a:xfrm>
          <a:prstGeom prst="roundRect">
            <a:avLst>
              <a:gd name="adj" fmla="val 30000"/>
            </a:avLst>
          </a:prstGeom>
          <a:solidFill>
            <a:srgbClr val="FFA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Хранение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8000" y="4823999"/>
            <a:ext cx="45000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8154B"/>
                </a:solidFill>
                <a:latin typeface="Segoe UI"/>
              </a:rPr>
              <a:t>SQLite: снимок профиля + журнал операций; PIN — в зашифрованном хранилище Android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6000" y="1080000"/>
            <a:ext cx="3888000" cy="4680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2000" y="1170000"/>
            <a:ext cx="363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780F7"/>
                </a:solidFill>
                <a:latin typeface="Segoe UI"/>
              </a:rPr>
              <a:t>Стек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2000" y="1565999"/>
            <a:ext cx="3636000" cy="41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8154B"/>
                </a:solidFill>
                <a:latin typeface="Segoe UI"/>
              </a:rPr>
              <a:t>• Flutter 3.47, Dart 3.13
• sqflite, flutter_secure_storage, local_auth
• Android 7.0+, пакет ru.financepet.ryzhik
• Без сервера и сети
Обновление контента: новое задание = новый шаблон в daily_task_templates.dart, генератор подхватывает его без изменения логики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Демо-режим для экспертов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080000"/>
            <a:ext cx="612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5 игровых дней </a:t>
            </a:r>
            <a:r>
              <a:rPr sz="1700">
                <a:solidFill>
                  <a:srgbClr val="08154B"/>
                </a:solidFill>
                <a:latin typeface="Segoe UI"/>
              </a:rPr>
              <a:t>подряд, без ожидания календаря; отдельный профиль, обычный не затрагивается.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День 2 </a:t>
            </a:r>
            <a:r>
              <a:rPr sz="1700">
                <a:solidFill>
                  <a:srgbClr val="08154B"/>
                </a:solidFill>
                <a:latin typeface="Segoe UI"/>
              </a:rPr>
              <a:t>— звонок мошенника, день 4 — Рыжик поранил лапку.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Панель демо: </a:t>
            </a:r>
            <a:r>
              <a:rPr sz="1700">
                <a:solidFill>
                  <a:srgbClr val="08154B"/>
                </a:solidFill>
                <a:latin typeface="Segoe UI"/>
              </a:rPr>
              <a:t>стадия Рыжика 1–3, переход к любому дню, «голоден», +500 монет, «Завершить день».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Сброс </a:t>
            </a:r>
            <a:r>
              <a:rPr sz="1700">
                <a:solidFill>
                  <a:srgbClr val="08154B"/>
                </a:solidFill>
                <a:latin typeface="Segoe UI"/>
              </a:rPr>
              <a:t>одной кнопкой «Начать демо заново».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Раздел для родителей: </a:t>
            </a:r>
            <a:r>
              <a:rPr sz="1700">
                <a:solidFill>
                  <a:srgbClr val="08154B"/>
                </a:solidFill>
                <a:latin typeface="Segoe UI"/>
              </a:rPr>
              <a:t>PIN 1234 (подсказка на экране входа).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780F7"/>
                </a:solidFill>
              </a:rPr>
              <a:t>• </a:t>
            </a:r>
            <a:r>
              <a:rPr b="1" sz="1700">
                <a:solidFill>
                  <a:srgbClr val="08154B"/>
                </a:solidFill>
                <a:latin typeface="Segoe UI"/>
              </a:rPr>
              <a:t>Сохранение: </a:t>
            </a:r>
            <a:r>
              <a:rPr sz="1700">
                <a:solidFill>
                  <a:srgbClr val="08154B"/>
                </a:solidFill>
                <a:latin typeface="Segoe UI"/>
              </a:rPr>
              <a:t>закрыли и открыли — прогресс на месте.</a:t>
            </a:r>
          </a:p>
        </p:txBody>
      </p:sp>
      <p:pic>
        <p:nvPicPr>
          <p:cNvPr id="7" name="Picture 6" descr="05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000" y="936000"/>
            <a:ext cx="2365200" cy="5256000"/>
          </a:xfrm>
          <a:prstGeom prst="rect">
            <a:avLst/>
          </a:prstGeom>
        </p:spPr>
      </p:pic>
      <p:pic>
        <p:nvPicPr>
          <p:cNvPr id="8" name="Picture 7" descr="06_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000" y="936000"/>
            <a:ext cx="2365200" cy="525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Тестирование, ограничения и 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080000"/>
            <a:ext cx="3636000" cy="4680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000" y="1170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5C969"/>
                </a:solidFill>
                <a:latin typeface="Segoe UI"/>
              </a:rPr>
              <a:t>Проверено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000" y="1565999"/>
            <a:ext cx="3384000" cy="41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8154B"/>
                </a:solidFill>
                <a:latin typeface="Segoe UI"/>
              </a:rPr>
              <a:t>• 430 автотестов: бюджет, списания, копилка, цели, рост, периоды, сохранение, события
• dart analyze — 0 замечаний
• Релизный APK: запуск 1,4 с, отклик &lt; 1 с
• Ручные тест-кейсы по Приложению 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4000" y="1080000"/>
            <a:ext cx="3636000" cy="4680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0000" y="1170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A51F"/>
                </a:solidFill>
                <a:latin typeface="Segoe UI"/>
              </a:rPr>
              <a:t>Ограничения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0000" y="1565999"/>
            <a:ext cx="3384000" cy="41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8154B"/>
                </a:solidFill>
                <a:latin typeface="Segoe UI"/>
              </a:rPr>
              <a:t>• APK ≈ 520 МБ из-за анимаций 60 fps
• Только русский язык, портретная ориентация
• Один детский профиль на устройство
• Раздел взрослого — только на этом устройстве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0000" y="1080000"/>
            <a:ext cx="3636000" cy="468000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solidFill>
              <a:srgbClr val="F2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6000" y="1170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8649F4"/>
                </a:solidFill>
                <a:latin typeface="Segoe UI"/>
              </a:rPr>
              <a:t>Дальше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000" y="1565999"/>
            <a:ext cx="3384000" cy="41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8154B"/>
                </a:solidFill>
                <a:latin typeface="Segoe UI"/>
              </a:rPr>
              <a:t>• Сжать анимации до &lt; 150 МБ
• Новые события и задания про карты и платежи
• Несколько профилей, задания от родителя
• Озвучка реплик Рыжика
• Публикация в RuStore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78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000" y="251999"/>
            <a:ext cx="100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154B"/>
                </a:solidFill>
                <a:latin typeface="Segoe UI"/>
              </a:rPr>
              <a:t>Ссылки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2000" y="6372000"/>
            <a:ext cx="7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6797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6372000"/>
            <a:ext cx="72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6797"/>
                </a:solidFill>
                <a:latin typeface="Segoe UI"/>
              </a:rPr>
              <a:t>Финансовый питомец · 1.0.0 (сборка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152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780F7"/>
                </a:solidFill>
              </a:rPr>
              <a:t>• </a:t>
            </a:r>
            <a:r>
              <a:rPr b="1" sz="2000">
                <a:solidFill>
                  <a:srgbClr val="08154B"/>
                </a:solidFill>
                <a:latin typeface="Segoe UI"/>
              </a:rPr>
              <a:t>Репозиторий: </a:t>
            </a:r>
            <a:r>
              <a:rPr sz="2000">
                <a:solidFill>
                  <a:srgbClr val="08154B"/>
                </a:solidFill>
                <a:latin typeface="Segoe UI"/>
              </a:rPr>
              <a:t>https://github.com/VavilonK/Hackathon (тег v1.0.0)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780F7"/>
                </a:solidFill>
              </a:rPr>
              <a:t>• </a:t>
            </a:r>
            <a:r>
              <a:rPr b="1" sz="2000">
                <a:solidFill>
                  <a:srgbClr val="08154B"/>
                </a:solidFill>
                <a:latin typeface="Segoe UI"/>
              </a:rPr>
              <a:t>Сборка: </a:t>
            </a:r>
            <a:r>
              <a:rPr sz="2000">
                <a:solidFill>
                  <a:srgbClr val="08154B"/>
                </a:solidFill>
                <a:latin typeface="Segoe UI"/>
              </a:rPr>
              <a:t>app-release.apk, версия 1.0.0, сборка 1, пакет ru.financepet.ryzhik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780F7"/>
                </a:solidFill>
              </a:rPr>
              <a:t>• </a:t>
            </a:r>
            <a:r>
              <a:rPr b="1" sz="2000">
                <a:solidFill>
                  <a:srgbClr val="08154B"/>
                </a:solidFill>
                <a:latin typeface="Segoe UI"/>
              </a:rPr>
              <a:t>Документация: </a:t>
            </a:r>
            <a:r>
              <a:rPr sz="2000">
                <a:solidFill>
                  <a:srgbClr val="08154B"/>
                </a:solidFill>
                <a:latin typeface="Segoe UI"/>
              </a:rPr>
              <a:t>README.md и docs/Документация_Финансовый_питомец.docx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780F7"/>
                </a:solidFill>
              </a:rPr>
              <a:t>• </a:t>
            </a:r>
            <a:r>
              <a:rPr b="1" sz="2000">
                <a:solidFill>
                  <a:srgbClr val="08154B"/>
                </a:solidFill>
                <a:latin typeface="Segoe UI"/>
              </a:rPr>
              <a:t>Карточка RuStore: </a:t>
            </a:r>
            <a:r>
              <a:rPr sz="2000">
                <a:solidFill>
                  <a:srgbClr val="08154B"/>
                </a:solidFill>
                <a:latin typeface="Segoe UI"/>
              </a:rPr>
              <a:t>docs/rustore/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780F7"/>
                </a:solidFill>
              </a:rPr>
              <a:t>• </a:t>
            </a:r>
            <a:r>
              <a:rPr b="1" sz="2000">
                <a:solidFill>
                  <a:srgbClr val="08154B"/>
                </a:solidFill>
                <a:latin typeface="Segoe UI"/>
              </a:rPr>
              <a:t>Резервное видео демонстрации: </a:t>
            </a:r>
            <a:r>
              <a:rPr sz="2000">
                <a:solidFill>
                  <a:srgbClr val="08154B"/>
                </a:solidFill>
                <a:latin typeface="Segoe UI"/>
              </a:rPr>
              <a:t>&lt;вставить ссылку&gt;</a:t>
            </a:r>
          </a:p>
        </p:txBody>
      </p:sp>
      <p:pic>
        <p:nvPicPr>
          <p:cNvPr id="7" name="Picture 6" descr="app_icon_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0" y="3671999"/>
            <a:ext cx="2160000" cy="21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